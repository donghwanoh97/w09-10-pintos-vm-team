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B2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6304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9748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6304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함수 표 한눈에 보기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974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file_ops는 어떻게 정해지고, destroy(page)는 어디로 가나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함수 표는 코드에 이미 적혀 있다</a:t>
            </a:r>
            <a:endParaRPr lang="en-US" sz="2800" dirty="0"/>
          </a:p>
        </p:txBody>
      </p:sp>
      <p:sp>
        <p:nvSpPr>
          <p:cNvPr id="3" name="uninit_ops card"/>
          <p:cNvSpPr/>
          <p:nvPr/>
        </p:nvSpPr>
        <p:spPr>
          <a:xfrm>
            <a:off x="457200" y="1234440"/>
            <a:ext cx="2606040" cy="1773936"/>
          </a:xfrm>
          <a:prstGeom prst="roundRect">
            <a:avLst>
              <a:gd name="adj" fmla="val 4124"/>
            </a:avLst>
          </a:prstGeom>
          <a:solidFill>
            <a:srgbClr val="FFFFFF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34440"/>
            <a:ext cx="2606040" cy="457200"/>
          </a:xfrm>
          <a:prstGeom prst="roundRect">
            <a:avLst>
              <a:gd name="adj" fmla="val 16000"/>
            </a:avLst>
          </a:prstGeom>
          <a:solidFill>
            <a:schemeClr val="accent3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2344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uninit_ops</a:t>
            </a:r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  vm/uninit.c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728216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swap_in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72821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uninit_initialize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03911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swap_out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03911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NULL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235000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destroy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235000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uninit_destroy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266090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type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2660904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VM_UNINIT</a:t>
            </a:r>
            <a:endParaRPr lang="en-US" sz="1100" dirty="0"/>
          </a:p>
        </p:txBody>
      </p:sp>
      <p:sp>
        <p:nvSpPr>
          <p:cNvPr id="14" name="anon_ops card"/>
          <p:cNvSpPr/>
          <p:nvPr/>
        </p:nvSpPr>
        <p:spPr>
          <a:xfrm>
            <a:off x="3268980" y="1234440"/>
            <a:ext cx="2606040" cy="1773936"/>
          </a:xfrm>
          <a:prstGeom prst="roundRect">
            <a:avLst>
              <a:gd name="adj" fmla="val 4124"/>
            </a:avLst>
          </a:prstGeom>
          <a:solidFill>
            <a:srgbClr val="FFFFFF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68980" y="1234440"/>
            <a:ext cx="2606040" cy="457200"/>
          </a:xfrm>
          <a:prstGeom prst="roundRect">
            <a:avLst>
              <a:gd name="adj" fmla="val 16000"/>
            </a:avLst>
          </a:prstGeom>
          <a:solidFill>
            <a:schemeClr val="accent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378708" y="12344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anon_ops</a:t>
            </a:r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  vm/anon.c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406140" y="1728216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swap_in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229100" y="172821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anon_swap_in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3406140" y="203911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swap_out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229100" y="203911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anon_swap_out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3406140" y="235000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destroy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229100" y="235000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anon_destroy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3406140" y="266090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type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229100" y="2660904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VM_ANON</a:t>
            </a:r>
            <a:endParaRPr lang="en-US" sz="1100" dirty="0"/>
          </a:p>
        </p:txBody>
      </p:sp>
      <p:sp>
        <p:nvSpPr>
          <p:cNvPr id="25" name="file_ops card"/>
          <p:cNvSpPr/>
          <p:nvPr/>
        </p:nvSpPr>
        <p:spPr>
          <a:xfrm>
            <a:off x="6080760" y="1234440"/>
            <a:ext cx="2606040" cy="1773936"/>
          </a:xfrm>
          <a:prstGeom prst="roundRect">
            <a:avLst>
              <a:gd name="adj" fmla="val 4124"/>
            </a:avLst>
          </a:prstGeom>
          <a:solidFill>
            <a:srgbClr val="FFFFFF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80760" y="1234440"/>
            <a:ext cx="2606040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190488" y="12344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file_ops</a:t>
            </a:r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  vm/file.c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217920" y="1728216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swap_in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7040880" y="172821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file_backed_swap_in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6217920" y="203911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swap_out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7040880" y="203911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file_backed_swap_out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217920" y="235000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destroy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7040880" y="235000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file_backed_destroy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6217920" y="266090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type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7040880" y="2660904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VM_FILE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3246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struct page_operations 모양(칸 4개)은 include/vm/vm.h에 있고, 칸을 채운 표는 타입마다 하나씩 있다.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static const로 선언돼 있어서 프로그램 시작부터 값이 정해져 있고, 실행 중에 바뀌지 않는다 (DO NOT MODIFY).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page는 표를 복사하지 않고 가리킨다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2468880" cy="438912"/>
          </a:xfrm>
          <a:prstGeom prst="roundRect">
            <a:avLst>
              <a:gd name="adj" fmla="val 12500"/>
            </a:avLst>
          </a:prstGeom>
          <a:solidFill>
            <a:schemeClr val="accent2">
              <a:alpha val="15000"/>
            </a:schemeClr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8368" y="1188720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page A (ANON)</a:t>
            </a:r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   operations →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017520" y="1408176"/>
            <a:ext cx="2103120" cy="374904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548640" y="1719072"/>
            <a:ext cx="2468880" cy="438912"/>
          </a:xfrm>
          <a:prstGeom prst="roundRect">
            <a:avLst>
              <a:gd name="adj" fmla="val 12500"/>
            </a:avLst>
          </a:prstGeom>
          <a:solidFill>
            <a:schemeClr val="accent2">
              <a:alpha val="15000"/>
            </a:schemeClr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719072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page B (ANON)</a:t>
            </a:r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   operations →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 flipV="1">
            <a:off x="3017520" y="1783080"/>
            <a:ext cx="2103120" cy="155448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48640" y="2249424"/>
            <a:ext cx="2468880" cy="438912"/>
          </a:xfrm>
          <a:prstGeom prst="roundRect">
            <a:avLst>
              <a:gd name="adj" fmla="val 12500"/>
            </a:avLst>
          </a:prstGeom>
          <a:solidFill>
            <a:schemeClr val="accent2">
              <a:alpha val="15000"/>
            </a:schemeClr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" y="2249424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page C (ANON)</a:t>
            </a:r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   operations →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 flipV="1">
            <a:off x="3017520" y="1783080"/>
            <a:ext cx="2103120" cy="685800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48640" y="3017520"/>
            <a:ext cx="2468880" cy="438912"/>
          </a:xfrm>
          <a:prstGeom prst="roundRect">
            <a:avLst>
              <a:gd name="adj" fmla="val 12500"/>
            </a:avLst>
          </a:prstGeom>
          <a:solidFill>
            <a:schemeClr val="accent1">
              <a:alpha val="15000"/>
            </a:schemeClr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" y="3017520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page D (FILE)</a:t>
            </a:r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   operations →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017520" y="3236976"/>
            <a:ext cx="2103120" cy="283464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48640" y="3547872"/>
            <a:ext cx="2468880" cy="438912"/>
          </a:xfrm>
          <a:prstGeom prst="roundRect">
            <a:avLst>
              <a:gd name="adj" fmla="val 12500"/>
            </a:avLst>
          </a:prstGeom>
          <a:solidFill>
            <a:schemeClr val="accent1">
              <a:alpha val="15000"/>
            </a:schemeClr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8368" y="3547872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page E (FILE)</a:t>
            </a:r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   operations →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 flipV="1">
            <a:off x="3017520" y="3520440"/>
            <a:ext cx="2103120" cy="246888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120640" y="1463040"/>
            <a:ext cx="3566160" cy="640080"/>
          </a:xfrm>
          <a:prstGeom prst="roundRect">
            <a:avLst>
              <a:gd name="adj" fmla="val 11429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257800" y="14630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anon_ops</a:t>
            </a:r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   ANON용 표, 1개뿐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120640" y="3200400"/>
            <a:ext cx="3566160" cy="64008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257800" y="32004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file_ops</a:t>
            </a:r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   FILE용 표, 1개뿐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같은 타입이면 쓰는 함수가 똑같아서 표 하나를 같이 본다. page마다 다른 건 operations 포인터가 어느 표를 가리키느냐뿐이다.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page-&gt;operations가 바뀌는 순간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① mmap으로 page 생성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7276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uninit_new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vm/uninit.c 33줄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25603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23591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page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2670048"/>
            <a:ext cx="2286000" cy="685800"/>
          </a:xfrm>
          <a:prstGeom prst="rect">
            <a:avLst/>
          </a:prstGeom>
          <a:solidFill>
            <a:schemeClr val="accent3">
              <a:alpha val="18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670048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operations =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&amp;uninit_ops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063240" y="2926080"/>
            <a:ext cx="182880" cy="914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3291840" y="1188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② 처음 접근해서 폴트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291840" y="157276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file_backed_initializer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vm/file.c 26줄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91840" y="2286000"/>
            <a:ext cx="25603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29000" y="23591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page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29000" y="2670048"/>
            <a:ext cx="2286000" cy="685800"/>
          </a:xfrm>
          <a:prstGeom prst="rect">
            <a:avLst/>
          </a:prstGeom>
          <a:solidFill>
            <a:schemeClr val="accent1">
              <a:alpha val="18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520440" y="2670048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operations =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&amp;file_ops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897880" y="2926080"/>
            <a:ext cx="182880" cy="914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6126480" y="1188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③ 그 뒤로 계속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126480" y="157276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(바뀌지 않음)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지울 때까지 유지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26480" y="2286000"/>
            <a:ext cx="25603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63640" y="23591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page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63640" y="2670048"/>
            <a:ext cx="2286000" cy="685800"/>
          </a:xfrm>
          <a:prstGeom prst="rect">
            <a:avLst/>
          </a:prstGeom>
          <a:solidFill>
            <a:schemeClr val="accent1">
              <a:alpha val="18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355080" y="2670048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operations =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&amp;file_ops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3794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FILE인지 확인하는 코드는 없다. ②에서 file_ops를 쥐여 주기 때문에, 이후 그 표를 따라가면 파일용 함수가 불린다. ①②를 잇는 do_mmap, vm_alloc_page_with_initializer는 우리가 구현할 부분.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destroy(page)가 따라가는 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0116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chemeClr val="accent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66928" y="12344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vm_dealloc_page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vm/vm.c 147줄  destroy (page);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468880" y="1627632"/>
            <a:ext cx="320040" cy="914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788920" y="1234440"/>
            <a:ext cx="23774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chemeClr val="accent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898648" y="12344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destroy 매크로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include/vm/vm.h 83줄  page-&gt;operations-&gt;destroy (page)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166360" y="1627632"/>
            <a:ext cx="320040" cy="914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486400" y="1234440"/>
            <a:ext cx="32004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596128" y="12344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① page-&gt;operations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값 = file_ops가 있는 주소 (②에서 넣어 둔 값)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086600" y="2011680"/>
            <a:ext cx="914" cy="27432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2" name="file_ops card"/>
          <p:cNvSpPr/>
          <p:nvPr/>
        </p:nvSpPr>
        <p:spPr>
          <a:xfrm>
            <a:off x="5486400" y="2286000"/>
            <a:ext cx="3200400" cy="1773936"/>
          </a:xfrm>
          <a:prstGeom prst="roundRect">
            <a:avLst>
              <a:gd name="adj" fmla="val 4124"/>
            </a:avLst>
          </a:prstGeom>
          <a:solidFill>
            <a:srgbClr val="FFFFFF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0" y="2286000"/>
            <a:ext cx="3200400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596128" y="22860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file_ops</a:t>
            </a:r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  vm/file.c 10~15줄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623560" y="2779776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swap_in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2779776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file_backed_swap_in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623560" y="309067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swap_out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309067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file_backed_swap_out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532120" y="3401568"/>
            <a:ext cx="3108960" cy="292608"/>
          </a:xfrm>
          <a:prstGeom prst="rect">
            <a:avLst/>
          </a:prstGeom>
          <a:solidFill>
            <a:schemeClr val="accent1">
              <a:alpha val="2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623560" y="340156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destroy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446520" y="3401568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file_backed_destroy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623560" y="371246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type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446520" y="3712464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VM_FILE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25146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② -&gt;destroy : 그 표의 destroy 칸을 읽음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2926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③ (page) : 칸에 적힌 함수를 실행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57200" y="3429000"/>
            <a:ext cx="4663440" cy="685800"/>
          </a:xfrm>
          <a:prstGeom prst="roundRect">
            <a:avLst>
              <a:gd name="adj" fmla="val 10667"/>
            </a:avLst>
          </a:prstGeom>
          <a:solidFill>
            <a:schemeClr val="accent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66928" y="342900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file_backed_destroy(page) 실행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vm/file.c 47줄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 flipH="1">
            <a:off x="5120640" y="3547872"/>
            <a:ext cx="365760" cy="201168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변수끼리 연결되는 게 아니라, 주소를 따라간다: page가 가진 주소 → file_ops의 destroy 칸 → 거기 적힌 함수.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destroy라는 이름이 세 군데 나온다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2344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매크로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8745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부르는 쪽이 쓰는 짧은 이름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2606040" cy="9144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6928" y="233172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destroy(page) ...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3375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include/vm/vm.h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23444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9184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931920" y="12344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표의 칸 이름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291840" y="18745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함수를 넣어 두는 빈칸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291840" y="2331720"/>
            <a:ext cx="2606040" cy="9144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401568" y="233172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(*destroy) (struct page *);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291840" y="33375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struct page_operations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12344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2648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766560" y="12344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실제 함수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126480" y="18745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칸에 들어가는 내용물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126480" y="2331720"/>
            <a:ext cx="2606040" cy="9144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236208" y="233172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file_backed_destroy, anon_destroy, uninit_destroy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126480" y="33375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vm/file.c, anon.c, uninit.c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destroy(page) ① → page-&gt;operations-&gt;destroy ②를 열어서 → file_backed_destroy ③이 실행된다.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intos VM">
  <a:themeElements>
    <a:clrScheme name="Pintos VM">
      <a:dk1>
        <a:srgbClr val="1B2333"/>
      </a:dk1>
      <a:lt1>
        <a:srgbClr val="FFFFFF"/>
      </a:lt1>
      <a:dk2>
        <a:srgbClr val="4A5568"/>
      </a:dk2>
      <a:lt2>
        <a:srgbClr val="F2F4F8"/>
      </a:lt2>
      <a:accent1>
        <a:srgbClr val="E07A1F"/>
      </a:accent1>
      <a:accent2>
        <a:srgbClr val="2A9D8F"/>
      </a:accent2>
      <a:accent3>
        <a:srgbClr val="8A94A3"/>
      </a:accent3>
      <a:accent4>
        <a:srgbClr val="1F3A5F"/>
      </a:accent4>
      <a:accent5>
        <a:srgbClr val="C0392B"/>
      </a:accent5>
      <a:accent6>
        <a:srgbClr val="D9DEE7"/>
      </a:accent6>
      <a:hlink>
        <a:srgbClr val="1F3A5F"/>
      </a:hlink>
      <a:folHlink>
        <a:srgbClr val="4A5568"/>
      </a:folHlink>
    </a:clrScheme>
    <a:fontScheme name="Pintos VM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page_operations 한눈에 보기</dc:title>
  <dc:subject>PptxGenJS Presentation</dc:subject>
  <dc:creator>PptxGenJS</dc:creator>
  <cp:lastModifiedBy>PptxGenJS</cp:lastModifiedBy>
  <cp:revision>1</cp:revision>
  <dcterms:created xsi:type="dcterms:W3CDTF">2026-10-25T15:26:56Z</dcterms:created>
  <dcterms:modified xsi:type="dcterms:W3CDTF">2026-10-25T15:26:56Z</dcterms:modified>
</cp:coreProperties>
</file>